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3"/>
  </p:notesMasterIdLst>
  <p:sldIdLst>
    <p:sldId id="256" r:id="rId3"/>
    <p:sldId id="260" r:id="rId4"/>
    <p:sldId id="257" r:id="rId5"/>
    <p:sldId id="258" r:id="rId6"/>
    <p:sldId id="259" r:id="rId7"/>
    <p:sldId id="264" r:id="rId8"/>
    <p:sldId id="266" r:id="rId9"/>
    <p:sldId id="268" r:id="rId10"/>
    <p:sldId id="269" r:id="rId11"/>
    <p:sldId id="273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E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878" autoAdjust="0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1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925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OmniTwin — hands-on digital twin learning kits for Pakistani engineering students. Pitch to 10K.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me. 5th semester MBSD. 80% of my time went to debugging blind, and I burned two Arduinos before anything worked — all for lack of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robot, same student. This time the digital twin catches the fault before hardware fails. Connect the kit, watch it mirror live, run AI fault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the student sees. A clean, on-brand diagnostic view of the line-following robot — motor RPM, current draw, IR sensors, battery, and a system-health verdict. Built in the brand, correctly spelled.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088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54497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6217920" y="1652171"/>
            <a:ext cx="12801600" cy="698265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24000">
                <a:srgbClr val="04342C">
                  <a:alpha val="100000"/>
                </a:srgbClr>
              </a:gs>
              <a:gs pos="55000">
                <a:srgbClr val="04342C">
                  <a:alpha val="50000"/>
                </a:srgbClr>
              </a:gs>
              <a:gs pos="100000">
                <a:srgbClr val="04342C">
                  <a:alpha val="15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FD1AC">
                  <a:alpha val="6000"/>
                </a:srgbClr>
              </a:gs>
              <a:gs pos="100000">
                <a:srgbClr val="5FD1A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952500" y="1095375"/>
            <a:ext cx="114300" cy="114300"/>
          </a:xfrm>
          <a:prstGeom prst="ellipse">
            <a:avLst/>
          </a:prstGeom>
          <a:solidFill>
            <a:srgbClr val="5FD1AC"/>
          </a:solidFill>
          <a:ln/>
          <a:effectLst>
            <a:outerShdw blurRad="114300" dist="50800" dir="16200000" algn="bl" rotWithShape="0">
              <a:srgbClr val="5FD1AC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219200" y="1000125"/>
            <a:ext cx="760417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432" dirty="0">
                <a:solidFill>
                  <a:srgbClr val="F1EFE8">
                    <a:alpha val="8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NATIONAL INCUBATION CENTER · KARACHI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6211550" y="647700"/>
            <a:ext cx="1123950" cy="1009650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/>
          <a:effectLst>
            <a:outerShdw blurRad="285750" dist="762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2050" y="781050"/>
            <a:ext cx="742950" cy="7429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2500" y="4219337"/>
            <a:ext cx="12363450" cy="969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3614"/>
              </a:lnSpc>
              <a:buNone/>
            </a:pPr>
            <a:r>
              <a:rPr lang="en-US" sz="7800" b="1" kern="0" spc="-234" dirty="0">
                <a:solidFill>
                  <a:srgbClr val="F1EF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Omni</a:t>
            </a:r>
            <a:r>
              <a:rPr lang="en-US" sz="7800" b="1" kern="0" spc="-234" dirty="0">
                <a:solidFill>
                  <a:srgbClr val="5FD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Twin</a:t>
            </a:r>
            <a:endParaRPr lang="en-US" sz="7800" dirty="0"/>
          </a:p>
        </p:txBody>
      </p:sp>
      <p:sp>
        <p:nvSpPr>
          <p:cNvPr id="10" name="Text 6"/>
          <p:cNvSpPr/>
          <p:nvPr/>
        </p:nvSpPr>
        <p:spPr>
          <a:xfrm>
            <a:off x="952500" y="5398056"/>
            <a:ext cx="9418320" cy="1245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529"/>
              </a:lnSpc>
              <a:buNone/>
            </a:pPr>
            <a:r>
              <a:rPr lang="en-US" sz="2400" dirty="0">
                <a:solidFill>
                  <a:srgbClr val="F1EFE8">
                    <a:alpha val="9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Hands-on digital twin learning kits for Pakistani engineering students — ESP32 hardware + live dashboard, at a fraction of global vendor cost.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952500" y="9166860"/>
            <a:ext cx="2321123" cy="548640"/>
          </a:xfrm>
          <a:prstGeom prst="roundRect">
            <a:avLst>
              <a:gd name="adj" fmla="val 50000"/>
            </a:avLst>
          </a:prstGeom>
          <a:solidFill>
            <a:srgbClr val="5FD1AC">
              <a:alpha val="14000"/>
            </a:srgbClr>
          </a:solidFill>
          <a:ln w="7620">
            <a:solidFill>
              <a:srgbClr val="5FD1A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1207770" y="9288780"/>
            <a:ext cx="18867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5FD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PITCH TO 10K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502223" y="9288780"/>
            <a:ext cx="256489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1EFE8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Karachi, Pakistan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1142927" y="952374"/>
            <a:ext cx="373442" cy="33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800"/>
              <a:buFont typeface="JetBrains Mono"/>
              <a:buNone/>
            </a:pPr>
            <a:r>
              <a:rPr lang="en-US" sz="1800" b="0" i="0" u="none" strike="noStrike" cap="none">
                <a:solidFill>
                  <a:srgbClr val="0F6E5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592507" y="952374"/>
            <a:ext cx="1104743" cy="33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800"/>
              <a:buFont typeface="JetBrains Mono"/>
              <a:buNone/>
            </a:pPr>
            <a:r>
              <a:rPr lang="en-US" sz="1800" b="0" i="0" u="none" strike="noStrike" cap="none">
                <a:solidFill>
                  <a:srgbClr val="04342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VISION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142927" y="1671936"/>
            <a:ext cx="6574144" cy="7757894"/>
          </a:xfrm>
          <a:prstGeom prst="roundRect">
            <a:avLst>
              <a:gd name="adj" fmla="val 580"/>
            </a:avLst>
          </a:prstGeom>
          <a:solidFill>
            <a:srgbClr val="0434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3715588" y="4329766"/>
            <a:ext cx="1428691" cy="1428691"/>
          </a:xfrm>
          <a:prstGeom prst="ellipse">
            <a:avLst/>
          </a:prstGeom>
          <a:noFill/>
          <a:ln w="50075" cap="flat" cmpd="sng">
            <a:solidFill>
              <a:srgbClr val="F1EFE8">
                <a:alpha val="34902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 rot="2700000">
            <a:off x="3829793" y="5015537"/>
            <a:ext cx="1200150" cy="57150"/>
          </a:xfrm>
          <a:prstGeom prst="rect">
            <a:avLst/>
          </a:prstGeom>
          <a:solidFill>
            <a:srgbClr val="F1EFE8">
              <a:alpha val="3490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3109243" y="6101349"/>
            <a:ext cx="2641512" cy="708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ctr" rtl="0">
              <a:lnSpc>
                <a:spcPct val="118136"/>
              </a:lnSpc>
              <a:spcBef>
                <a:spcPts val="0"/>
              </a:spcBef>
              <a:spcAft>
                <a:spcPts val="0"/>
              </a:spcAft>
              <a:buClr>
                <a:srgbClr val="F1EFE8"/>
              </a:buClr>
              <a:buSzPts val="1650"/>
              <a:buFont typeface="JetBrains Mono"/>
              <a:buNone/>
            </a:pPr>
            <a:r>
              <a:rPr lang="en-US" sz="1650" b="0" i="0" u="none" strike="noStrike" cap="none">
                <a:solidFill>
                  <a:srgbClr val="F1EFE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THEORY, NO HARDWARE ACCESS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250385" y="3069195"/>
            <a:ext cx="9161397" cy="3402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0028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3450"/>
              <a:buFont typeface="Space Grotesk"/>
              <a:buNone/>
            </a:pPr>
            <a:r>
              <a:rPr lang="en-US" sz="3450" b="0" i="0" u="none" strike="noStrike" cap="none">
                <a:solidFill>
                  <a:srgbClr val="04342C"/>
                </a:solidFill>
                <a:latin typeface="Space Grotesk"/>
                <a:ea typeface="Space Grotesk"/>
                <a:cs typeface="Space Grotesk"/>
                <a:sym typeface="Space Grotesk"/>
              </a:rPr>
              <a:t>Give every Pakistani engineering department affordable, hands-on digital twin hardware — ESP32 kits mirrored into a live dashboard — so students see real physical behavior instead of theory alone.</a:t>
            </a:r>
            <a:endParaRPr sz="3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8250385" y="6852474"/>
            <a:ext cx="8894561" cy="9525"/>
          </a:xfrm>
          <a:prstGeom prst="rect">
            <a:avLst/>
          </a:prstGeom>
          <a:solidFill>
            <a:srgbClr val="04342C">
              <a:alpha val="1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8250385" y="7337009"/>
            <a:ext cx="76169" cy="76169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8555061" y="7203713"/>
            <a:ext cx="8847581" cy="866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rtl="0">
              <a:lnSpc>
                <a:spcPct val="124093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2175"/>
              <a:buFont typeface="Inter"/>
              <a:buNone/>
            </a:pPr>
            <a:r>
              <a:rPr lang="en-US" sz="2175" b="0" i="0" u="none" strike="noStrike" cap="none">
                <a:solidFill>
                  <a:srgbClr val="04342C"/>
                </a:solidFill>
                <a:latin typeface="Inter"/>
                <a:ea typeface="Inter"/>
                <a:cs typeface="Inter"/>
                <a:sym typeface="Inter"/>
              </a:rPr>
              <a:t>Long term: become the default lab infrastructure for Pakistani universities, Urdu-first and load-shedding resilient.</a:t>
            </a:r>
            <a:endParaRPr sz="21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41767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84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1465421" y="1122045"/>
            <a:ext cx="495300" cy="19050"/>
          </a:xfrm>
          <a:prstGeom prst="rect">
            <a:avLst/>
          </a:prstGeom>
          <a:solidFill>
            <a:srgbClr val="04342C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132171" y="979170"/>
            <a:ext cx="144340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0434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2436495"/>
            <a:ext cx="7652385" cy="3409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187"/>
              </a:lnSpc>
              <a:buNone/>
            </a:pPr>
            <a:r>
              <a:rPr lang="en-US" sz="4500" dirty="0">
                <a:solidFill>
                  <a:srgbClr val="0434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 spent </a:t>
            </a:r>
            <a:r>
              <a:rPr lang="en-US" sz="4500" b="1" dirty="0">
                <a:solidFill>
                  <a:srgbClr val="D85A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80% of my time </a:t>
            </a:r>
            <a:r>
              <a:rPr lang="en-US" sz="4500" dirty="0">
                <a:solidFill>
                  <a:srgbClr val="0434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debugging blind — and burned through </a:t>
            </a:r>
            <a:r>
              <a:rPr lang="en-US" sz="4500" b="1" dirty="0">
                <a:solidFill>
                  <a:srgbClr val="D85A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 Arduinos </a:t>
            </a:r>
            <a:r>
              <a:rPr lang="en-US" sz="4500" dirty="0">
                <a:solidFill>
                  <a:srgbClr val="0434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 anything worked.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52500" y="6189345"/>
            <a:ext cx="165830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4342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5th semester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87003" y="6341745"/>
            <a:ext cx="2133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4342C">
                    <a:alpha val="2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76563" y="6189345"/>
            <a:ext cx="556760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4342C">
                    <a:alpha val="62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MBSD — Microprocessor-Based System Design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7924800"/>
            <a:ext cx="627888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318"/>
              </a:lnSpc>
              <a:buNone/>
            </a:pPr>
            <a:r>
              <a:rPr lang="en-US" sz="2100" dirty="0">
                <a:solidFill>
                  <a:srgbClr val="04342C">
                    <a:alpha val="7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Pakistani engineering students learn embedded systems almost entirely through theory. Hardware labs are expensive and rare — so most never build a real system.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2B26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7824" b="7824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gradFill rotWithShape="1">
            <a:gsLst>
              <a:gs pos="0">
                <a:srgbClr val="2B2622">
                  <a:alpha val="55000"/>
                </a:srgbClr>
              </a:gs>
              <a:gs pos="28000">
                <a:srgbClr val="2B2622">
                  <a:alpha val="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677400" y="9394507"/>
            <a:ext cx="8884920" cy="397193"/>
          </a:xfrm>
          <a:prstGeom prst="rect">
            <a:avLst/>
          </a:prstGeom>
          <a:noFill/>
          <a:ln/>
          <a:effectLst>
            <a:outerShdw blurRad="152400" dist="19050" dir="5400000" algn="bl" rotWithShape="0">
              <a:srgbClr val="000000">
                <a:alpha val="6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593"/>
              </a:lnSpc>
              <a:buNone/>
            </a:pPr>
            <a:r>
              <a:rPr lang="en-US" sz="1950" dirty="0">
                <a:solidFill>
                  <a:srgbClr val="F1EF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SHORT CIRCUIT — the LFR that wouldn't run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1C3B3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7824" b="7824"/>
          <a:stretch/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gradFill rotWithShape="1">
            <a:gsLst>
              <a:gs pos="0">
                <a:srgbClr val="0F6E56">
                  <a:alpha val="50000"/>
                </a:srgbClr>
              </a:gs>
              <a:gs pos="30000">
                <a:srgbClr val="0F6E56">
                  <a:alpha val="0"/>
                </a:srgbClr>
              </a:gs>
            </a:gsLst>
            <a:lin ang="1080000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33400" y="9394507"/>
            <a:ext cx="8884920" cy="397193"/>
          </a:xfrm>
          <a:prstGeom prst="rect">
            <a:avLst/>
          </a:prstGeom>
          <a:noFill/>
          <a:ln/>
          <a:effectLst>
            <a:outerShdw blurRad="152400" dist="19050" dir="5400000" algn="bl" rotWithShape="0">
              <a:srgbClr val="000000">
                <a:alpha val="6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593"/>
              </a:lnSpc>
              <a:buNone/>
            </a:pPr>
            <a:r>
              <a:rPr lang="en-US" sz="1950" dirty="0">
                <a:solidFill>
                  <a:srgbClr val="F1EF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ALL TESTS PASSED — the twin caught the fault first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906000" y="952500"/>
            <a:ext cx="41767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84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10418921" y="1122045"/>
            <a:ext cx="495300" cy="19050"/>
          </a:xfrm>
          <a:prstGeom prst="rect">
            <a:avLst/>
          </a:prstGeom>
          <a:solidFill>
            <a:srgbClr val="04342C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1085671" y="979170"/>
            <a:ext cx="164968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0434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906000" y="3086457"/>
            <a:ext cx="7652385" cy="1641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797"/>
              </a:lnSpc>
              <a:buNone/>
            </a:pPr>
            <a:r>
              <a:rPr lang="en-US" sz="3450" dirty="0">
                <a:solidFill>
                  <a:srgbClr val="0434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robot. This time the </a:t>
            </a:r>
            <a:r>
              <a:rPr lang="en-US" sz="3450" b="1" dirty="0">
                <a:solidFill>
                  <a:srgbClr val="0F6E5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twin caught the fault </a:t>
            </a:r>
            <a:r>
              <a:rPr lang="en-US" sz="3450" dirty="0">
                <a:solidFill>
                  <a:srgbClr val="0434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before it fried anything.</a:t>
            </a:r>
            <a:endParaRPr lang="en-US" sz="3450" dirty="0"/>
          </a:p>
        </p:txBody>
      </p:sp>
      <p:sp>
        <p:nvSpPr>
          <p:cNvPr id="10" name="Text 7"/>
          <p:cNvSpPr/>
          <p:nvPr/>
        </p:nvSpPr>
        <p:spPr>
          <a:xfrm>
            <a:off x="9906000" y="5063252"/>
            <a:ext cx="3733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0412731" y="5032772"/>
            <a:ext cx="6024562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434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Connect kit — sensors capture live data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9906000" y="5638562"/>
            <a:ext cx="3733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0412731" y="5608082"/>
            <a:ext cx="5077397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434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streams into the digital twin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9906000" y="6213872"/>
            <a:ext cx="3733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0412731" y="6183392"/>
            <a:ext cx="4738319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0434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Student runs AI fault detection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9906000" y="8324850"/>
            <a:ext cx="588645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318"/>
              </a:lnSpc>
              <a:buNone/>
            </a:pPr>
            <a:r>
              <a:rPr lang="en-US" sz="2100" dirty="0">
                <a:solidFill>
                  <a:srgbClr val="04342C">
                    <a:alpha val="7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 ESP32 + sensor kit mirrors live physical data into an interactive dashboard — the guidance I never had.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3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5FD1AC">
                  <a:alpha val="9000"/>
                </a:srgbClr>
              </a:gs>
              <a:gs pos="100000">
                <a:srgbClr val="5FD1AC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417671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kern="0" spc="84" dirty="0">
                <a:solidFill>
                  <a:srgbClr val="5FD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1465421" y="1122045"/>
            <a:ext cx="495300" cy="19050"/>
          </a:xfrm>
          <a:prstGeom prst="rect">
            <a:avLst/>
          </a:prstGeom>
          <a:solidFill>
            <a:srgbClr val="F1EFE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132171" y="979170"/>
            <a:ext cx="247439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F1EFE8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DIGITAL TWIN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3082290"/>
            <a:ext cx="6153303" cy="1546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4286"/>
              </a:lnSpc>
              <a:buNone/>
            </a:pPr>
            <a:r>
              <a:rPr lang="en-US" sz="3300" dirty="0">
                <a:solidFill>
                  <a:srgbClr val="F1EF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LFR, mirrored live — </a:t>
            </a:r>
            <a:r>
              <a:rPr lang="en-US" sz="3300" b="1" dirty="0">
                <a:solidFill>
                  <a:srgbClr val="5FD1A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read-time diagnostics </a:t>
            </a:r>
            <a:r>
              <a:rPr lang="en-US" sz="3300" dirty="0">
                <a:solidFill>
                  <a:srgbClr val="F1EF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student can actually read.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52500" y="4914900"/>
            <a:ext cx="657148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FD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HARDWARE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500" y="5212080"/>
            <a:ext cx="657148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1EFE8">
                    <a:alpha val="8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ESP32 · L298N driver · 3× TCRT5000 IR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52500" y="5715000"/>
            <a:ext cx="657148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FD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SOFTWARE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52500" y="6012180"/>
            <a:ext cx="657148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1EFE8">
                    <a:alpha val="8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dashboard mirrors every sensor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" y="6515100"/>
            <a:ext cx="657148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70" dirty="0">
                <a:solidFill>
                  <a:srgbClr val="5FD1A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52500" y="6812280"/>
            <a:ext cx="6571488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F1EFE8">
                    <a:alpha val="8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Fault detection before hardware burns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52500" y="8896350"/>
            <a:ext cx="6153303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83"/>
              </a:lnSpc>
              <a:buNone/>
            </a:pPr>
            <a:r>
              <a:rPr lang="en-US" sz="1650" dirty="0">
                <a:solidFill>
                  <a:srgbClr val="F1EFE8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concept dashboard — clean brand build, not the sketch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7879080" y="2287905"/>
            <a:ext cx="9456301" cy="5711190"/>
          </a:xfrm>
          <a:prstGeom prst="roundRect">
            <a:avLst>
              <a:gd name="adj" fmla="val 3336"/>
            </a:avLst>
          </a:prstGeom>
          <a:gradFill rotWithShape="1">
            <a:gsLst>
              <a:gs pos="0">
                <a:srgbClr val="E5E6DF">
                  <a:alpha val="100000"/>
                </a:srgbClr>
              </a:gs>
              <a:gs pos="100000">
                <a:srgbClr val="F1EFE8">
                  <a:alpha val="100000"/>
                </a:srgbClr>
              </a:gs>
            </a:gsLst>
            <a:path path="circle">
              <a:fillToRect l="50000" t="50000" r="50000" b="50000"/>
            </a:path>
          </a:gradFill>
          <a:ln w="7620">
            <a:solidFill>
              <a:srgbClr val="04342C">
                <a:alpha val="14000"/>
              </a:srgbClr>
            </a:solidFill>
            <a:prstDash val="solid"/>
          </a:ln>
          <a:effectLst>
            <a:outerShdw blurRad="762000" dist="28575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05800" y="2714625"/>
            <a:ext cx="446799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OMNITWIN · LFR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5800" y="3030855"/>
            <a:ext cx="4467999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4342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Real-time Diagnostic View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4234042" y="2819400"/>
            <a:ext cx="2674620" cy="518160"/>
          </a:xfrm>
          <a:prstGeom prst="roundRect">
            <a:avLst>
              <a:gd name="adj" fmla="val 50000"/>
            </a:avLst>
          </a:prstGeom>
          <a:solidFill>
            <a:srgbClr val="0F6E56">
              <a:alpha val="10000"/>
            </a:srgbClr>
          </a:solidFill>
          <a:ln w="7620">
            <a:solidFill>
              <a:srgbClr val="0F6E5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4451211" y="3021330"/>
            <a:ext cx="114300" cy="114300"/>
          </a:xfrm>
          <a:prstGeom prst="ellipse">
            <a:avLst/>
          </a:prstGeom>
          <a:solidFill>
            <a:srgbClr val="0F6E56"/>
          </a:solidFill>
          <a:ln/>
          <a:effectLst>
            <a:outerShdw blurRad="114300" dist="50800" dir="16200000" algn="bl" rotWithShape="0">
              <a:srgbClr val="0F6E56">
                <a:alpha val="6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4679811" y="2941320"/>
            <a:ext cx="2212848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ALL TESTS PASSED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305800" y="3766185"/>
            <a:ext cx="2740581" cy="1691640"/>
          </a:xfrm>
          <a:prstGeom prst="roundRect">
            <a:avLst>
              <a:gd name="adj" fmla="val 7883"/>
            </a:avLst>
          </a:prstGeom>
          <a:solidFill>
            <a:srgbClr val="EAE7DC"/>
          </a:solidFill>
          <a:ln w="7620">
            <a:solidFill>
              <a:srgbClr val="04342C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42020" y="4002405"/>
            <a:ext cx="249495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04342C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MOTOR L · RPM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8542020" y="4333875"/>
            <a:ext cx="2494955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434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125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8542020" y="4985385"/>
            <a:ext cx="249495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85 mA · nominal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11236880" y="3766185"/>
            <a:ext cx="2740581" cy="1691640"/>
          </a:xfrm>
          <a:prstGeom prst="roundRect">
            <a:avLst>
              <a:gd name="adj" fmla="val 7883"/>
            </a:avLst>
          </a:prstGeom>
          <a:solidFill>
            <a:srgbClr val="EAE7DC"/>
          </a:solidFill>
          <a:ln w="7620">
            <a:solidFill>
              <a:srgbClr val="04342C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473101" y="4002405"/>
            <a:ext cx="249495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04342C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MOTOR R · RPM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11473101" y="4333875"/>
            <a:ext cx="2494955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434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124</a:t>
            </a:r>
            <a:endParaRPr lang="en-US" sz="3300" dirty="0"/>
          </a:p>
        </p:txBody>
      </p:sp>
      <p:sp>
        <p:nvSpPr>
          <p:cNvPr id="27" name="Text 25"/>
          <p:cNvSpPr/>
          <p:nvPr/>
        </p:nvSpPr>
        <p:spPr>
          <a:xfrm>
            <a:off x="11473101" y="4985385"/>
            <a:ext cx="249495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86 mA · nominal</a:t>
            </a:r>
            <a:endParaRPr lang="en-US" sz="1425" dirty="0"/>
          </a:p>
        </p:txBody>
      </p:sp>
      <p:sp>
        <p:nvSpPr>
          <p:cNvPr id="28" name="Shape 26"/>
          <p:cNvSpPr/>
          <p:nvPr/>
        </p:nvSpPr>
        <p:spPr>
          <a:xfrm>
            <a:off x="14167962" y="3766185"/>
            <a:ext cx="2740700" cy="1691640"/>
          </a:xfrm>
          <a:prstGeom prst="roundRect">
            <a:avLst>
              <a:gd name="adj" fmla="val 7883"/>
            </a:avLst>
          </a:prstGeom>
          <a:solidFill>
            <a:srgbClr val="EAE7DC"/>
          </a:solidFill>
          <a:ln w="7620">
            <a:solidFill>
              <a:srgbClr val="04342C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4404181" y="4002405"/>
            <a:ext cx="249508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04342C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MCU LOAD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14404181" y="4333875"/>
            <a:ext cx="2495086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434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45</a:t>
            </a:r>
            <a:r>
              <a:rPr lang="en-US" sz="1950" b="1" dirty="0">
                <a:solidFill>
                  <a:srgbClr val="0434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</a:t>
            </a:r>
            <a:endParaRPr lang="en-US" sz="3300" dirty="0"/>
          </a:p>
        </p:txBody>
      </p:sp>
      <p:sp>
        <p:nvSpPr>
          <p:cNvPr id="31" name="Text 29"/>
          <p:cNvSpPr/>
          <p:nvPr/>
        </p:nvSpPr>
        <p:spPr>
          <a:xfrm>
            <a:off x="14404181" y="4985385"/>
            <a:ext cx="249508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Line-follow alg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8305800" y="5781675"/>
            <a:ext cx="425386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04342C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IR SENSOR ARRAY · 3× TCRT5000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6108561" y="5781675"/>
            <a:ext cx="8763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0F6E5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 line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305800" y="6174105"/>
            <a:ext cx="2084070" cy="152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F6E56">
                  <a:alpha val="100000"/>
                </a:srgbClr>
              </a:gs>
              <a:gs pos="100000">
                <a:srgbClr val="5FD1AC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523220" y="6174105"/>
            <a:ext cx="4168021" cy="1524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F6E56">
                  <a:alpha val="100000"/>
                </a:srgbClr>
              </a:gs>
              <a:gs pos="100000">
                <a:srgbClr val="5FD1AC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4824592" y="6174105"/>
            <a:ext cx="2084070" cy="152400"/>
          </a:xfrm>
          <a:prstGeom prst="roundRect">
            <a:avLst>
              <a:gd name="adj" fmla="val 50000"/>
            </a:avLst>
          </a:prstGeom>
          <a:solidFill>
            <a:srgbClr val="04342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305800" y="6650355"/>
            <a:ext cx="8602861" cy="9525"/>
          </a:xfrm>
          <a:prstGeom prst="rect">
            <a:avLst/>
          </a:prstGeom>
          <a:solidFill>
            <a:srgbClr val="04342C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305800" y="6905625"/>
            <a:ext cx="278701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42" dirty="0">
                <a:solidFill>
                  <a:srgbClr val="04342C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BATTERY · 7.4V Li-Po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8305800" y="7198995"/>
            <a:ext cx="2787015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434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88% · 7.2V</a:t>
            </a:r>
            <a:endParaRPr lang="en-US" sz="2250" dirty="0"/>
          </a:p>
        </p:txBody>
      </p:sp>
      <p:sp>
        <p:nvSpPr>
          <p:cNvPr id="40" name="Text 38"/>
          <p:cNvSpPr/>
          <p:nvPr/>
        </p:nvSpPr>
        <p:spPr>
          <a:xfrm>
            <a:off x="11933301" y="6905625"/>
            <a:ext cx="1672209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425" kern="0" spc="142" dirty="0">
                <a:solidFill>
                  <a:srgbClr val="04342C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EST. RUNTIME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11933301" y="7198995"/>
            <a:ext cx="1672209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0434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42 min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14645521" y="6905625"/>
            <a:ext cx="22631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425" kern="0" spc="142" dirty="0">
                <a:solidFill>
                  <a:srgbClr val="04342C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CHASSIS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14645521" y="7198995"/>
            <a:ext cx="22631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2250" b="1" dirty="0">
                <a:solidFill>
                  <a:srgbClr val="04342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180 × 150 mm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/>
          <p:nvPr/>
        </p:nvSpPr>
        <p:spPr>
          <a:xfrm>
            <a:off x="1142927" y="952374"/>
            <a:ext cx="373442" cy="33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800"/>
              <a:buFont typeface="JetBrains Mono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F6E56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08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1592507" y="952374"/>
            <a:ext cx="2451313" cy="33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800"/>
              <a:buFont typeface="JetBrains Mono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MARKET SIZING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2667090" y="2598095"/>
            <a:ext cx="5905448" cy="5905448"/>
          </a:xfrm>
          <a:prstGeom prst="ellipse">
            <a:avLst/>
          </a:prstGeom>
          <a:solidFill>
            <a:srgbClr val="04342C">
              <a:alpha val="5882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5419740" y="2940986"/>
            <a:ext cx="476348" cy="288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500"/>
              <a:buFont typeface="JetBrains Mono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TAM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3714806" y="3645810"/>
            <a:ext cx="3810017" cy="3810017"/>
          </a:xfrm>
          <a:prstGeom prst="ellipse">
            <a:avLst/>
          </a:prstGeom>
          <a:solidFill>
            <a:srgbClr val="0F6E56">
              <a:alpha val="1607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5419740" y="3931444"/>
            <a:ext cx="476348" cy="288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500"/>
              <a:buFont typeface="JetBrains Mono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0F6E56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SAM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0"/>
          <p:cNvSpPr/>
          <p:nvPr/>
        </p:nvSpPr>
        <p:spPr>
          <a:xfrm>
            <a:off x="4762521" y="4693525"/>
            <a:ext cx="1714586" cy="1714586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5419740" y="5425609"/>
            <a:ext cx="476348" cy="288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JetBrains Mono"/>
              <a:buNone/>
              <a:tabLst/>
              <a:defRPr/>
            </a:pP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SOM</a:t>
            </a: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0"/>
          <p:cNvSpPr/>
          <p:nvPr/>
        </p:nvSpPr>
        <p:spPr>
          <a:xfrm>
            <a:off x="9524912" y="3562989"/>
            <a:ext cx="6705457" cy="722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4200"/>
              <a:buFont typeface="Space Grotesk"/>
              <a:buNone/>
              <a:tabLst/>
              <a:defRPr/>
            </a:pPr>
            <a:r>
              <a:rPr kumimoji="0" lang="en-US" sz="420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53</a:t>
            </a:r>
            <a:endParaRPr kumimoji="0" sz="4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9524912" y="4247467"/>
            <a:ext cx="6705457" cy="384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377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950"/>
              <a:buFont typeface="Inter"/>
              <a:buNone/>
              <a:tabLst/>
              <a:defRPr/>
            </a:pPr>
            <a:r>
              <a:rPr kumimoji="0" lang="en-US" sz="195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HEC engineering universities in Pakistan</a:t>
            </a:r>
            <a:endParaRPr kumimoji="0" sz="19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9524912" y="4937032"/>
            <a:ext cx="6705457" cy="722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4200"/>
              <a:buFont typeface="Space Grotesk"/>
              <a:buNone/>
              <a:tabLst/>
              <a:defRPr/>
            </a:pPr>
            <a:r>
              <a:rPr kumimoji="0" lang="en-US" sz="4200" b="0" i="0" u="none" strike="noStrike" kern="0" cap="none" spc="0" normalizeH="0" baseline="0" noProof="0">
                <a:ln>
                  <a:noFill/>
                </a:ln>
                <a:solidFill>
                  <a:srgbClr val="0F6E56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~8–10</a:t>
            </a:r>
            <a:endParaRPr kumimoji="0" sz="4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9524912" y="5621510"/>
            <a:ext cx="6278746" cy="73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377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950"/>
              <a:buFont typeface="Inter"/>
              <a:buNone/>
              <a:tabLst/>
              <a:defRPr/>
            </a:pPr>
            <a:r>
              <a:rPr kumimoji="0" lang="en-US" sz="195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engineering-focused Karachi universities (HEC-recognized)</a:t>
            </a:r>
            <a:endParaRPr kumimoji="0" sz="19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9524912" y="6657748"/>
            <a:ext cx="6705457" cy="572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3300"/>
              <a:buFont typeface="Space Grotesk"/>
              <a:buNone/>
              <a:tabLst/>
              <a:defRPr/>
            </a:pPr>
            <a:r>
              <a:rPr kumimoji="0" lang="en-US" sz="330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DUET + NED</a:t>
            </a:r>
            <a:endParaRPr kumimoji="0" sz="3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/>
          <p:nvPr/>
        </p:nvSpPr>
        <p:spPr>
          <a:xfrm>
            <a:off x="9524912" y="7191974"/>
            <a:ext cx="6705457" cy="384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377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950"/>
              <a:buFont typeface="Inter"/>
              <a:buNone/>
              <a:tabLst/>
              <a:defRPr/>
            </a:pPr>
            <a:r>
              <a:rPr kumimoji="0" lang="en-US" sz="195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flagship anchors</a:t>
            </a:r>
            <a:endParaRPr kumimoji="0" sz="19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/>
          <p:nvPr/>
        </p:nvSpPr>
        <p:spPr>
          <a:xfrm>
            <a:off x="1142927" y="952374"/>
            <a:ext cx="373442" cy="33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800"/>
              <a:buFont typeface="JetBrains Mono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F6E56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10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1592507" y="952374"/>
            <a:ext cx="2074276" cy="33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800"/>
              <a:buFont typeface="JetBrains Mono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COMPETITORS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1142927" y="1671936"/>
            <a:ext cx="17602220" cy="33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950"/>
              <a:buFont typeface="Inter"/>
              <a:buNone/>
              <a:tabLst/>
              <a:defRPr/>
            </a:pPr>
            <a:r>
              <a:rPr kumimoji="0" lang="en-US" sz="195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Global alternatives, none Pakistan-priced:</a:t>
            </a:r>
            <a:endParaRPr kumimoji="0" sz="19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1142927" y="3013242"/>
            <a:ext cx="16002019" cy="9525"/>
          </a:xfrm>
          <a:prstGeom prst="rect">
            <a:avLst/>
          </a:prstGeom>
          <a:solidFill>
            <a:srgbClr val="04342C">
              <a:alpha val="1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1219096" y="2486580"/>
            <a:ext cx="11813386" cy="3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2025"/>
              <a:buFont typeface="Inter"/>
              <a:buNone/>
              <a:tabLst/>
              <a:defRPr/>
            </a:pPr>
            <a:r>
              <a:rPr kumimoji="0" lang="en-US" sz="2025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Siemens MindSphere</a:t>
            </a:r>
            <a:endParaRPr kumimoji="0" sz="202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12187046" y="2486580"/>
            <a:ext cx="5369904" cy="3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875"/>
              <a:buFont typeface="JetBrains Mono"/>
              <a:buNone/>
              <a:tabLst/>
              <a:defRPr/>
            </a:pPr>
            <a:r>
              <a:rPr kumimoji="0" lang="en-US" sz="1875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~$5,000+/mo</a:t>
            </a:r>
            <a:endParaRPr kumimoji="0" sz="18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1142927" y="3776758"/>
            <a:ext cx="16002019" cy="9525"/>
          </a:xfrm>
          <a:prstGeom prst="rect">
            <a:avLst/>
          </a:prstGeom>
          <a:solidFill>
            <a:srgbClr val="04342C">
              <a:alpha val="1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1219096" y="3250096"/>
            <a:ext cx="11813386" cy="3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2025"/>
              <a:buFont typeface="Inter"/>
              <a:buNone/>
              <a:tabLst/>
              <a:defRPr/>
            </a:pPr>
            <a:r>
              <a:rPr kumimoji="0" lang="en-US" sz="2025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PTC ThingWorx</a:t>
            </a:r>
            <a:endParaRPr kumimoji="0" sz="202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12187046" y="3250096"/>
            <a:ext cx="5369904" cy="3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875"/>
              <a:buFont typeface="JetBrains Mono"/>
              <a:buNone/>
              <a:tabLst/>
              <a:defRPr/>
            </a:pPr>
            <a:r>
              <a:rPr kumimoji="0" lang="en-US" sz="1875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~$4,000+/mo</a:t>
            </a:r>
            <a:endParaRPr kumimoji="0" sz="18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1142927" y="4540274"/>
            <a:ext cx="16002019" cy="9525"/>
          </a:xfrm>
          <a:prstGeom prst="rect">
            <a:avLst/>
          </a:prstGeom>
          <a:solidFill>
            <a:srgbClr val="04342C">
              <a:alpha val="1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1219096" y="4013613"/>
            <a:ext cx="11813386" cy="3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2025"/>
              <a:buFont typeface="Inter"/>
              <a:buNone/>
              <a:tabLst/>
              <a:defRPr/>
            </a:pPr>
            <a:r>
              <a:rPr kumimoji="0" lang="en-US" sz="2025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AWS IoT TwinMaker</a:t>
            </a:r>
            <a:endParaRPr kumimoji="0" sz="202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12187046" y="4013613"/>
            <a:ext cx="5369904" cy="3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875"/>
              <a:buFont typeface="JetBrains Mono"/>
              <a:buNone/>
              <a:tabLst/>
              <a:defRPr/>
            </a:pPr>
            <a:r>
              <a:rPr kumimoji="0" lang="en-US" sz="1875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Pay-per-resource</a:t>
            </a:r>
            <a:endParaRPr kumimoji="0" sz="18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2"/>
          <p:cNvSpPr/>
          <p:nvPr/>
        </p:nvSpPr>
        <p:spPr>
          <a:xfrm>
            <a:off x="1142927" y="5303791"/>
            <a:ext cx="16002019" cy="9525"/>
          </a:xfrm>
          <a:prstGeom prst="rect">
            <a:avLst/>
          </a:prstGeom>
          <a:solidFill>
            <a:srgbClr val="04342C">
              <a:alpha val="1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0" name="Google Shape;170;p12"/>
          <p:cNvSpPr/>
          <p:nvPr/>
        </p:nvSpPr>
        <p:spPr>
          <a:xfrm>
            <a:off x="1219096" y="4777129"/>
            <a:ext cx="11813386" cy="3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2025"/>
              <a:buFont typeface="Inter"/>
              <a:buNone/>
              <a:tabLst/>
              <a:defRPr/>
            </a:pPr>
            <a:r>
              <a:rPr kumimoji="0" lang="en-US" sz="2025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Labtech Intl</a:t>
            </a:r>
            <a:endParaRPr kumimoji="0" sz="202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12187046" y="4777129"/>
            <a:ext cx="5369904" cy="3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875"/>
              <a:buFont typeface="JetBrains Mono"/>
              <a:buNone/>
              <a:tabLst/>
              <a:defRPr/>
            </a:pPr>
            <a:r>
              <a:rPr kumimoji="0" lang="en-US" sz="1875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Enterprise quote</a:t>
            </a:r>
            <a:endParaRPr kumimoji="0" sz="18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1142927" y="6067307"/>
            <a:ext cx="16002019" cy="9525"/>
          </a:xfrm>
          <a:prstGeom prst="rect">
            <a:avLst/>
          </a:prstGeom>
          <a:solidFill>
            <a:srgbClr val="04342C">
              <a:alpha val="14118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1219096" y="5540645"/>
            <a:ext cx="11813386" cy="3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2025"/>
              <a:buFont typeface="Inter"/>
              <a:buNone/>
              <a:tabLst/>
              <a:defRPr/>
            </a:pPr>
            <a:r>
              <a:rPr kumimoji="0" lang="en-US" sz="2025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Status quo</a:t>
            </a:r>
            <a:endParaRPr kumimoji="0" sz="202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12187046" y="5540645"/>
            <a:ext cx="5369904" cy="355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875"/>
              <a:buFont typeface="JetBrains Mono"/>
              <a:buNone/>
              <a:tabLst/>
              <a:defRPr/>
            </a:pPr>
            <a:r>
              <a:rPr kumimoji="0" lang="en-US" sz="1875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Theory-only, no lab</a:t>
            </a:r>
            <a:endParaRPr kumimoji="0" sz="18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1142927" y="6208950"/>
            <a:ext cx="16002019" cy="1129493"/>
          </a:xfrm>
          <a:prstGeom prst="roundRect">
            <a:avLst>
              <a:gd name="adj" fmla="val 3373"/>
            </a:avLst>
          </a:prstGeom>
          <a:solidFill>
            <a:srgbClr val="0F6E5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1371434" y="6456500"/>
            <a:ext cx="10845878" cy="672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Space Grotesk"/>
              <a:buNone/>
              <a:tabLst/>
              <a:defRPr/>
            </a:pPr>
            <a:r>
              <a:rPr kumimoji="0" lang="en-US" sz="217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OmniTwin</a:t>
            </a:r>
            <a:endParaRPr kumimoji="0" sz="21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12129919" y="6456500"/>
            <a:ext cx="4930115" cy="672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JetBrains Mono"/>
              <a:buNone/>
              <a:tabLst/>
              <a:defRPr/>
            </a:pPr>
            <a:r>
              <a:rPr kumimoji="0" lang="en-US" sz="1875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$20/mo Pro · 5 Lac PKR/yr, 50-seat license</a:t>
            </a:r>
            <a:endParaRPr kumimoji="0" sz="18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/>
          <p:nvPr/>
        </p:nvSpPr>
        <p:spPr>
          <a:xfrm>
            <a:off x="1142927" y="952374"/>
            <a:ext cx="373442" cy="33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800"/>
              <a:buFont typeface="JetBrains Mono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F6E56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12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1592507" y="952374"/>
            <a:ext cx="2828493" cy="33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800"/>
              <a:buFont typeface="JetBrains Mono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REVENUE STREAMS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1142927" y="1671936"/>
            <a:ext cx="17602220" cy="33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950"/>
              <a:buFont typeface="Inter"/>
              <a:buNone/>
              <a:tabLst/>
              <a:defRPr/>
            </a:pPr>
            <a:r>
              <a:rPr kumimoji="0" lang="en-US" sz="195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Freemium → Pro → University License upsell funnel.</a:t>
            </a:r>
            <a:endParaRPr kumimoji="0" sz="19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1142927" y="4133474"/>
            <a:ext cx="7848672" cy="2690958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1485818" y="4476365"/>
            <a:ext cx="7879178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650"/>
              <a:buFont typeface="JetBrains Mono"/>
              <a:buNone/>
              <a:tabLst/>
              <a:defRPr/>
            </a:pPr>
            <a:r>
              <a:rPr kumimoji="0" lang="en-US" sz="1650" b="0" i="0" u="none" strike="noStrike" kern="0" cap="none" spc="0" normalizeH="0" baseline="0" noProof="0">
                <a:ln>
                  <a:noFill/>
                </a:ln>
                <a:solidFill>
                  <a:srgbClr val="0F6E56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PRO SUBSCRIPTION</a:t>
            </a:r>
            <a:endParaRPr kumimoji="0" sz="16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1485818" y="4912512"/>
            <a:ext cx="7879178" cy="764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4500"/>
              <a:buFont typeface="Space Grotesk"/>
              <a:buNone/>
              <a:tabLst/>
              <a:defRPr/>
            </a:pPr>
            <a:r>
              <a:rPr kumimoji="0" lang="en-US" sz="450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$20</a:t>
            </a:r>
            <a:r>
              <a:rPr kumimoji="0" lang="en-US" sz="210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/month</a:t>
            </a:r>
            <a:endParaRPr kumimoji="0" sz="4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1485818" y="5791064"/>
            <a:ext cx="7377776" cy="728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184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875"/>
              <a:buFont typeface="Inter"/>
              <a:buNone/>
              <a:tabLst/>
              <a:defRPr/>
            </a:pPr>
            <a:r>
              <a:rPr kumimoji="0" lang="en-US" sz="1875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Fixed, not usage-metered. Individual students — full platform access.</a:t>
            </a:r>
            <a:endParaRPr kumimoji="0" sz="18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9296274" y="4133474"/>
            <a:ext cx="7848672" cy="2690958"/>
          </a:xfrm>
          <a:prstGeom prst="roundRect">
            <a:avLst>
              <a:gd name="adj" fmla="val 1416"/>
            </a:avLst>
          </a:prstGeom>
          <a:solidFill>
            <a:srgbClr val="0434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9639165" y="4476365"/>
            <a:ext cx="7879178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AE93"/>
              </a:buClr>
              <a:buSzPts val="1650"/>
              <a:buFont typeface="JetBrains Mono"/>
              <a:buNone/>
              <a:tabLst/>
              <a:defRPr/>
            </a:pPr>
            <a:r>
              <a:rPr kumimoji="0" lang="en-US" sz="1650" b="0" i="0" u="none" strike="noStrike" kern="0" cap="none" spc="0" normalizeH="0" baseline="0" noProof="0">
                <a:ln>
                  <a:noFill/>
                </a:ln>
                <a:solidFill>
                  <a:srgbClr val="3AAE93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UNIVERSITY LICENSE</a:t>
            </a:r>
            <a:endParaRPr kumimoji="0" sz="16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9639165" y="4912512"/>
            <a:ext cx="7879178" cy="664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Space Grotesk"/>
              <a:buNone/>
              <a:tabLst/>
              <a:defRPr/>
            </a:pPr>
            <a:r>
              <a:rPr kumimoji="0" lang="en-US" sz="3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5 Lac PKR</a:t>
            </a:r>
            <a:r>
              <a:rPr kumimoji="0" lang="en-US" sz="19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/year</a:t>
            </a:r>
            <a:endParaRPr kumimoji="0" sz="3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9639165" y="5690896"/>
            <a:ext cx="7377776" cy="728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184"/>
              </a:lnSpc>
              <a:spcBef>
                <a:spcPts val="0"/>
              </a:spcBef>
              <a:spcAft>
                <a:spcPts val="0"/>
              </a:spcAft>
              <a:buClr>
                <a:srgbClr val="F1EFE8"/>
              </a:buClr>
              <a:buSzPts val="1875"/>
              <a:buFont typeface="Inter"/>
              <a:buNone/>
              <a:tabLst/>
              <a:defRPr/>
            </a:pPr>
            <a:r>
              <a:rPr kumimoji="0" lang="en-US" sz="1875" b="0" i="0" u="none" strike="noStrike" kern="0" cap="none" spc="0" normalizeH="0" baseline="0" noProof="0">
                <a:ln>
                  <a:noFill/>
                </a:ln>
                <a:solidFill>
                  <a:srgbClr val="F1EFE8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50 seats, unlimited use for license duration + LMS integration + shared AI coaching engine.</a:t>
            </a:r>
            <a:endParaRPr kumimoji="0" sz="18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1142927" y="7129108"/>
            <a:ext cx="16002019" cy="9525"/>
          </a:xfrm>
          <a:prstGeom prst="rect">
            <a:avLst/>
          </a:prstGeom>
          <a:solidFill>
            <a:srgbClr val="04342C">
              <a:alpha val="784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1142927" y="7366056"/>
            <a:ext cx="16482079" cy="321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800"/>
              <a:buFont typeface="Inter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Potential future stream: LMS integration fees for deeper university system integration.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/>
          <p:nvPr/>
        </p:nvSpPr>
        <p:spPr>
          <a:xfrm>
            <a:off x="1142927" y="952374"/>
            <a:ext cx="373442" cy="33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800"/>
              <a:buFont typeface="JetBrains Mono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F6E56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13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5"/>
          <p:cNvSpPr/>
          <p:nvPr/>
        </p:nvSpPr>
        <p:spPr>
          <a:xfrm>
            <a:off x="1592507" y="952374"/>
            <a:ext cx="2639974" cy="33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800"/>
              <a:buFont typeface="JetBrains Mono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COST STRUCTURE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5"/>
          <p:cNvSpPr/>
          <p:nvPr/>
        </p:nvSpPr>
        <p:spPr>
          <a:xfrm>
            <a:off x="1142927" y="3576162"/>
            <a:ext cx="7810456" cy="26669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1485818" y="3919053"/>
            <a:ext cx="7837142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650"/>
              <a:buFont typeface="JetBrains Mono"/>
              <a:buNone/>
              <a:tabLst/>
              <a:defRPr/>
            </a:pPr>
            <a:r>
              <a:rPr kumimoji="0" lang="en-US" sz="1650" b="0" i="0" u="none" strike="noStrike" kern="0" cap="none" spc="0" normalizeH="0" baseline="0" noProof="0">
                <a:ln>
                  <a:noFill/>
                </a:ln>
                <a:solidFill>
                  <a:srgbClr val="0F6E56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CAPEX</a:t>
            </a:r>
            <a:endParaRPr kumimoji="0" sz="16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1485818" y="4393284"/>
            <a:ext cx="7837142" cy="664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3900"/>
              <a:buFont typeface="Space Grotesk"/>
              <a:buNone/>
              <a:tabLst/>
              <a:defRPr/>
            </a:pPr>
            <a:r>
              <a:rPr kumimoji="0" lang="en-US" sz="390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~50,000 PKR</a:t>
            </a:r>
            <a:endParaRPr kumimoji="0" sz="3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1485818" y="5209754"/>
            <a:ext cx="7338415" cy="728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184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875"/>
              <a:buFont typeface="Inter"/>
              <a:buNone/>
              <a:tabLst/>
              <a:defRPr/>
            </a:pPr>
            <a:r>
              <a:rPr kumimoji="0" lang="en-US" sz="1875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First batch: 5 kits × ~10,000 PKR BOM. Dev cost to date: not yet costed.</a:t>
            </a:r>
            <a:endParaRPr kumimoji="0" sz="18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9334359" y="3576162"/>
            <a:ext cx="7810587" cy="26669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9677250" y="3919053"/>
            <a:ext cx="7837285" cy="321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650"/>
              <a:buFont typeface="JetBrains Mono"/>
              <a:buNone/>
              <a:tabLst/>
              <a:defRPr/>
            </a:pPr>
            <a:r>
              <a:rPr kumimoji="0" lang="en-US" sz="1650" b="0" i="0" u="none" strike="noStrike" kern="0" cap="none" spc="0" normalizeH="0" baseline="0" noProof="0">
                <a:ln>
                  <a:noFill/>
                </a:ln>
                <a:solidFill>
                  <a:srgbClr val="0F6E56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OPEX</a:t>
            </a:r>
            <a:endParaRPr kumimoji="0" sz="16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9677250" y="4393284"/>
            <a:ext cx="7837285" cy="664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3900"/>
              <a:buFont typeface="Space Grotesk"/>
              <a:buNone/>
              <a:tabLst/>
              <a:defRPr/>
            </a:pPr>
            <a:r>
              <a:rPr kumimoji="0" lang="en-US" sz="390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25–30k PKR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/yr</a:t>
            </a:r>
            <a:endParaRPr kumimoji="0" sz="39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9677250" y="5209754"/>
            <a:ext cx="7338549" cy="728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184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875"/>
              <a:buFont typeface="Inter"/>
              <a:buNone/>
              <a:tabLst/>
              <a:defRPr/>
            </a:pPr>
            <a:r>
              <a:rPr kumimoji="0" lang="en-US" sz="1875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Hosting. Team stipends deferred. Support informal for now. Marketing/GTM not yet costed.</a:t>
            </a:r>
            <a:endParaRPr kumimoji="0" sz="18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1142927" y="6624097"/>
            <a:ext cx="16002019" cy="901507"/>
          </a:xfrm>
          <a:prstGeom prst="roundRect">
            <a:avLst>
              <a:gd name="adj" fmla="val 4226"/>
            </a:avLst>
          </a:prstGeom>
          <a:solidFill>
            <a:srgbClr val="04342C">
              <a:alpha val="90196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1485827" y="6928897"/>
            <a:ext cx="15796279" cy="330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EFE8"/>
              </a:buClr>
              <a:buSzPts val="1875"/>
              <a:buFont typeface="Inter"/>
              <a:buNone/>
              <a:tabLst/>
              <a:defRPr/>
            </a:pPr>
            <a:r>
              <a:rPr kumimoji="0" lang="en-US" sz="1875" b="0" i="0" u="none" strike="noStrike" kern="0" cap="none" spc="0" normalizeH="0" baseline="0" noProof="0">
                <a:ln>
                  <a:noFill/>
                </a:ln>
                <a:solidFill>
                  <a:srgbClr val="F1EFE8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Risk: hardware supply chain at scale needs a logistics plan.</a:t>
            </a:r>
            <a:endParaRPr kumimoji="0" sz="187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FE8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"/>
          <p:cNvSpPr/>
          <p:nvPr/>
        </p:nvSpPr>
        <p:spPr>
          <a:xfrm>
            <a:off x="1142927" y="952374"/>
            <a:ext cx="373442" cy="33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800"/>
              <a:buFont typeface="JetBrains Mono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F6E56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17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1592507" y="952374"/>
            <a:ext cx="1697096" cy="338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800"/>
              <a:buFont typeface="JetBrains Mono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CORE TEAM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1142927" y="3241227"/>
            <a:ext cx="5130846" cy="4619183"/>
          </a:xfrm>
          <a:prstGeom prst="roundRect">
            <a:avLst>
              <a:gd name="adj" fmla="val 825"/>
            </a:avLst>
          </a:prstGeom>
          <a:solidFill>
            <a:srgbClr val="0434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1466776" y="3622203"/>
            <a:ext cx="4931462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AE93"/>
              </a:buClr>
              <a:buSzPts val="1425"/>
              <a:buFont typeface="JetBrains Mono"/>
              <a:buNone/>
              <a:tabLst/>
              <a:defRPr/>
            </a:pPr>
            <a:r>
              <a:rPr kumimoji="0" lang="en-US" sz="1425" b="0" i="0" u="none" strike="noStrike" kern="0" cap="none" spc="0" normalizeH="0" baseline="0" noProof="0">
                <a:ln>
                  <a:noFill/>
                </a:ln>
                <a:solidFill>
                  <a:srgbClr val="3AAE93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AI / NLP</a:t>
            </a:r>
            <a:endParaRPr kumimoji="0" sz="142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9"/>
          <p:cNvSpPr/>
          <p:nvPr/>
        </p:nvSpPr>
        <p:spPr>
          <a:xfrm>
            <a:off x="1466776" y="4016612"/>
            <a:ext cx="4931462" cy="43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1EFE8"/>
              </a:buClr>
              <a:buSzPts val="2400"/>
              <a:buFont typeface="Space Grotesk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1EFE8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Tasbiha Naz (Siddiqui)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1466776" y="4561273"/>
            <a:ext cx="4617642" cy="1983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Clr>
                <a:srgbClr val="F1EFE8"/>
              </a:buClr>
              <a:buSzPts val="1725"/>
              <a:buFont typeface="Inter"/>
              <a:buNone/>
              <a:tabLst/>
              <a:defRPr/>
            </a:pPr>
            <a:r>
              <a:rPr kumimoji="0" lang="en-US" sz="1725" b="0" i="0" u="none" strike="noStrike" kern="0" cap="none" spc="0" normalizeH="0" baseline="0" noProof="0">
                <a:ln>
                  <a:noFill/>
                </a:ln>
                <a:solidFill>
                  <a:srgbClr val="F1EFE8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AI/NLP Developer at HNH Soft Tech Solutions, focused on LLM-powered applications and RAG systems. Brings hands-on experience building automation pipelines, vector-database-backed search, and multi-provider LLM integration.</a:t>
            </a:r>
            <a:endParaRPr kumimoji="0" sz="172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6578448" y="3241227"/>
            <a:ext cx="5130846" cy="4619183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6902297" y="3622203"/>
            <a:ext cx="4931462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425"/>
              <a:buFont typeface="JetBrains Mono"/>
              <a:buNone/>
              <a:tabLst/>
              <a:defRPr/>
            </a:pPr>
            <a:r>
              <a:rPr kumimoji="0" lang="en-US" sz="1425" b="0" i="0" u="none" strike="noStrike" kern="0" cap="none" spc="0" normalizeH="0" baseline="0" noProof="0">
                <a:ln>
                  <a:noFill/>
                </a:ln>
                <a:solidFill>
                  <a:srgbClr val="0F6E56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AI / SOFTWARE</a:t>
            </a:r>
            <a:endParaRPr kumimoji="0" sz="142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6902297" y="4016612"/>
            <a:ext cx="4931462" cy="43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2400"/>
              <a:buFont typeface="Space Grotesk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Asma Aslam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6902297" y="4561273"/>
            <a:ext cx="4617642" cy="2956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725"/>
              <a:buFont typeface="Inter"/>
              <a:buNone/>
              <a:tabLst/>
              <a:defRPr/>
            </a:pPr>
            <a:r>
              <a:rPr kumimoji="0" lang="en-US" sz="1725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AI Engineer / Data Engineer at Information Technology Services, and university topper (GPA 3.96) in Computer System Engineering from Dawood UET. Brings full-stack development (React/Next.js, FastAPI) and applied AI/ML experience (TensorFlow, PyTorch, RAG systems) from prior work at 360 Xpert Solutions and the State Bank of Pakistan.</a:t>
            </a:r>
            <a:endParaRPr kumimoji="0" sz="172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12013970" y="3241227"/>
            <a:ext cx="5130846" cy="4619183"/>
          </a:xfrm>
          <a:prstGeom prst="roundRect">
            <a:avLst>
              <a:gd name="adj" fmla="val 82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12337819" y="3622203"/>
            <a:ext cx="4931462" cy="28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425"/>
              <a:buFont typeface="JetBrains Mono"/>
              <a:buNone/>
              <a:tabLst/>
              <a:defRPr/>
            </a:pPr>
            <a:r>
              <a:rPr kumimoji="0" lang="en-US" sz="1425" b="0" i="0" u="none" strike="noStrike" kern="0" cap="none" spc="0" normalizeH="0" baseline="0" noProof="0">
                <a:ln>
                  <a:noFill/>
                </a:ln>
                <a:solidFill>
                  <a:srgbClr val="0F6E56"/>
                </a:solidFill>
                <a:effectLst/>
                <a:uLnTx/>
                <a:uFillTx/>
                <a:latin typeface="JetBrains Mono"/>
                <a:ea typeface="JetBrains Mono"/>
                <a:cs typeface="JetBrains Mono"/>
                <a:sym typeface="JetBrains Mono"/>
              </a:rPr>
              <a:t>FOUNDER</a:t>
            </a:r>
            <a:endParaRPr kumimoji="0" sz="142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12337819" y="4016612"/>
            <a:ext cx="4931462" cy="43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2400"/>
              <a:buFont typeface="Space Grotesk"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Muhammad Arham Rajput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12337819" y="4561273"/>
            <a:ext cx="4617642" cy="133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299"/>
              </a:lnSpc>
              <a:spcBef>
                <a:spcPts val="0"/>
              </a:spcBef>
              <a:spcAft>
                <a:spcPts val="0"/>
              </a:spcAft>
              <a:buClr>
                <a:srgbClr val="04342C"/>
              </a:buClr>
              <a:buSzPts val="1725"/>
              <a:buFont typeface="Inter"/>
              <a:buNone/>
              <a:tabLst/>
              <a:defRPr/>
            </a:pPr>
            <a:r>
              <a:rPr kumimoji="0" lang="en-US" sz="1725" b="0" i="0" u="none" strike="noStrike" kern="0" cap="none" spc="0" normalizeH="0" baseline="0" noProof="0">
                <a:ln>
                  <a:noFill/>
                </a:ln>
                <a:solidFill>
                  <a:srgbClr val="04342C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Owns hardware and embedded systems at OmniTwin — ESP32 integration, firmware, and the physical kit build. Leads product and company direction as founder.</a:t>
            </a:r>
            <a:endParaRPr kumimoji="0" sz="172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815</Words>
  <Application>Microsoft Office PowerPoint</Application>
  <PresentationFormat>Custom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Inter</vt:lpstr>
      <vt:lpstr>JetBrains Mono</vt:lpstr>
      <vt:lpstr>Space Grotesk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Arham</cp:lastModifiedBy>
  <cp:revision>5</cp:revision>
  <dcterms:created xsi:type="dcterms:W3CDTF">2026-08-18T18:17:47Z</dcterms:created>
  <dcterms:modified xsi:type="dcterms:W3CDTF">2026-09-24T18:01:56Z</dcterms:modified>
</cp:coreProperties>
</file>